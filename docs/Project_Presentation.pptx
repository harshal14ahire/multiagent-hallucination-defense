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Shree Chanakya Education Society’s
Indira College of Commerce &amp; Science, Pune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E75B6"/>
                </a:solidFill>
                <a:latin typeface="Calibri"/>
              </a:rPr>
              <a:t>Project Presentation</a:t>
            </a:r>
          </a:p>
          <a:p>
            <a:pPr algn="ctr"/>
            <a:r>
              <a:rPr sz="2800" b="1">
                <a:solidFill>
                  <a:srgbClr val="1F3A68"/>
                </a:solidFill>
                <a:latin typeface="Calibri"/>
              </a:rPr>
              <a:t>“Multi-Agent Defense against LLM Hallucinations”</a:t>
            </a:r>
          </a:p>
          <a:p>
            <a:pPr algn="ctr"/>
            <a:r>
              <a:rPr sz="1600" i="1">
                <a:solidFill>
                  <a:srgbClr val="666666"/>
                </a:solidFill>
                <a:latin typeface="Calibri"/>
              </a:rPr>
              <a:t>Deliberate Information Asymmetry, Confidence-Weighted Consensus &amp; Knowledge Graph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944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333333"/>
                </a:solidFill>
                <a:latin typeface="Calibri"/>
              </a:rPr>
              <a:t>By</a:t>
            </a:r>
          </a:p>
          <a:p>
            <a:pPr algn="ctr"/>
            <a:r>
              <a:rPr sz="2200" b="1">
                <a:solidFill>
                  <a:srgbClr val="333333"/>
                </a:solidFill>
                <a:latin typeface="Calibri"/>
              </a:rPr>
              <a:t>Harshal Ahire</a:t>
            </a:r>
          </a:p>
          <a:p>
            <a:pPr algn="ctr"/>
            <a:r>
              <a:rPr sz="1400">
                <a:solidFill>
                  <a:srgbClr val="666666"/>
                </a:solidFill>
                <a:latin typeface="Calibri"/>
              </a:rPr>
              <a:t>M.Sc. (Computer Science) – Semester III    •    2025–2026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Hallucinations are the dominant safety risk in LLMs.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Fluent yet fabricated content from autoregressive next-token prediction.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Real-world consequences are documented and growing.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Court sanctions for AI-generated fake citations now span four hundred-plus cases.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Single-agent RAG cannot self-correct.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The same model drafts and audits — confirmation bias is structural.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Multi-agent debate with deliberate information asymmetry breaks the loop.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Drafting and auditing roles are isolated by design, not by prompt.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Review of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Multi-Agent Debate (Du et al., 2023) – baseline framework.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MARCH, MAIN-RAG, RAG-KG-IL – RL-trained multi-agent retrieval pipelines.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Roundtable Policy / Dynamic Weighted Consensus – confidence-weighted voting.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GraphCheck, KARMA – knowledge-graph-based fact verification.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FACTS, HalluLens, LegalBench-RAG, Vectara Leaderboard – evaluation benchmarks.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Objectives of the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Primary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Design a Solver–Proposer–Checker–Synthesizer multi-agent RAG system with strict information asymmetry between drafting and auditing agents.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Empirical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Benchmark the system against a single-agent RAG baseline on the Charlotin AI Hallucination Cases dataset (Kaggle).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Engineering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Couple ChromaDB and Neo4j so lexical and structural evidence is jointly available to the Checker.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Reporting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Produce a reproducible, open-source reference implementation.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Hardware and Software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Hardware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Apple-silicon workstation, 16 GB RAM, ≈10 GB free disk.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Local LLM Runtime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Ollama 0.20+ serving llama3.1:latest (≈4.9 GB quantised).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Python Stack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Python 3.10+, FastAPI, LangChain, LangGraph, ChromaDB, Neo4j driver, pandas, sentence-transformers (all-MiniLM-L6-v2).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Databases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Neo4j 2026.x Community Edition; ChromaDB persisted to ./chroma_db.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Significance of the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Academic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First controlled comparison of multi-agent RAG on a real-world legal hallucination corpus rather than a synthetic benchmark.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Practical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Deployable architecture for legal-tech and other high-stakes domains where citation fidelity is non-negotiable.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Sustainability (Green AI)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Runs locally on commodity hardware with a quantised model — no API spend, no cross-region inference.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Research Requirements &amp;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Dataset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Charlotin AI Hallucination Cases (Kaggle, umerhaddii/ai-hallucination-cases-data-2025) — 426 court rulings, 14 columns; 243 retained after filtering.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Probes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Per case: one TRUE claim from Details, one FALSE claim with an injected fabricated citation. Seeded for reproducibility.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Evaluation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Confusion-matrix metrics (accuracy / precision / recall / F1) on matched probes per pipeline; per-probe latency.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Proposed Architecture (Solver – Proposer – Checker – Synthesizer)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Retrieve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Top-k Chroma documents for the claim + Neo4j subgraph for the matched cases.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Solver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Drafts a fluent narrative answer using both contexts (temp=0.7).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Proposer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Atomises the draft into JSON (question, answer) pairs (temp=0.0).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Checker (BLINDED)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Evaluates each atomised claim against raw evidence ONLY — never sees the Solver’s prose. This is the core information-asymmetry guarantee.</a:t>
            </a:r>
          </a:p>
          <a:p>
            <a:pPr algn="l"/>
            <a:r>
              <a:rPr b="1" sz="2000">
                <a:solidFill>
                  <a:srgbClr val="2E75B6"/>
                </a:solidFill>
                <a:latin typeface="Calibri"/>
              </a:rPr>
              <a:t>•  Synthesizer</a:t>
            </a:r>
          </a:p>
          <a:p>
            <a:pPr lvl="1"/>
            <a:r>
              <a:rPr sz="1600">
                <a:solidFill>
                  <a:srgbClr val="333333"/>
                </a:solidFill>
                <a:latin typeface="Calibri"/>
              </a:rPr>
              <a:t>Either returns the Solver’s draft or rewrites it to remove flagged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Single workstation; Ollama llama3.1 served locally on port 11434.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Neo4j 2026.x on port 7687; ChromaDB persisted to ./chroma_db.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Probe set: 3 cases × 2 probes (smoke) → scalable to 30+ cases.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Two pipelines on identical evidence, embeddings and base model.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All artefacts written to results/ and committed alongside the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Results — Baseline vs. 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16"/>
                <a:gridCol w="1584916"/>
                <a:gridCol w="1584916"/>
                <a:gridCol w="1584916"/>
                <a:gridCol w="1584916"/>
                <a:gridCol w="1584916"/>
                <a:gridCol w="1584919"/>
              </a:tblGrid>
              <a:tr h="914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Latency (s)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Single-agent RAG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36.87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Multi-agent (proposed)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0.6667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187.83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Multi-agent pipeline catches fabricated citations the baseline accepts.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Information asymmetry is best enforced in the graph schema, not in prompts.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Combining ChromaDB + Neo4j gives more explainable evidence than either alone.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A 4.9 GB local model is sufficient for legal claim verification when the retrieval and atomisation stages are well-engineered.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One failure mode probed (fabricated citations); other types deferred.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Single base model across all agents; mixing models would further reduce shared bias.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Single hardware configuration; latency numbers are indicative.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U.S./Commonwealth legal corpus only — no multilingual coverage yet.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Cover the full taxonomy of failure modes from the Hallucination column.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Mix heterogeneous LLMs across the agents to break shared parametric bias.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Replace simple voting with full Dynamic Weighted Consensus.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Integrate a domain-specific knowledge graph (e.g. LegalBench).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User study with practising legal professionals on real briefs.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Architectural information asymmetry between drafting and auditing agents is a structural — not prompt-level — fix for confirmation bias in RAG.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On real legal hallucination cases the multi-agent pipeline out-performs a matched single-agent RAG baseline at fabricated-citation detection.</a:t>
            </a:r>
          </a:p>
          <a:p>
            <a:pPr algn="l"/>
            <a:r>
              <a:rPr sz="1800">
                <a:solidFill>
                  <a:srgbClr val="333333"/>
                </a:solidFill>
                <a:latin typeface="Calibri"/>
              </a:rPr>
              <a:t>•  The reference implementation runs entirely on local hardware and is released open source (multiagent-hallucination-defense).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Multi-Agent Hallucination Defense  •  Indira College of Commerce &amp; Science, Pune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/>
            <a:r>
              <a:rPr sz="2400">
                <a:solidFill>
                  <a:srgbClr val="DCE6F5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