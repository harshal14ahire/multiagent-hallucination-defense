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Shree Chanakya Education Society’s
Indira College of Commerce &amp; Science, Pune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109441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E75B6"/>
                </a:solidFill>
                <a:latin typeface="Calibri"/>
              </a:rPr>
              <a:t>Project Presentation</a:t>
            </a:r>
          </a:p>
          <a:p>
            <a:pPr algn="ctr"/>
            <a:r>
              <a:rPr sz="2800" b="1">
                <a:solidFill>
                  <a:srgbClr val="1F3A68"/>
                </a:solidFill>
                <a:latin typeface="Calibri"/>
              </a:rPr>
              <a:t>“Multi-Agent Defense against LLM Hallucinations”</a:t>
            </a:r>
          </a:p>
          <a:p>
            <a:pPr algn="ctr"/>
            <a:r>
              <a:rPr sz="1600" i="1">
                <a:solidFill>
                  <a:srgbClr val="666666"/>
                </a:solidFill>
                <a:latin typeface="Calibri"/>
              </a:rPr>
              <a:t>Deliberate Information Asymmetry, Confidence-Weighted Consensus &amp; Knowledge Graph 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0"/>
            <a:ext cx="1109441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>
                <a:solidFill>
                  <a:srgbClr val="333333"/>
                </a:solidFill>
                <a:latin typeface="Calibri"/>
              </a:rPr>
              <a:t>By</a:t>
            </a:r>
          </a:p>
          <a:p>
            <a:pPr algn="ctr"/>
            <a:r>
              <a:rPr sz="2200" b="1">
                <a:solidFill>
                  <a:srgbClr val="333333"/>
                </a:solidFill>
                <a:latin typeface="Calibri"/>
              </a:rPr>
              <a:t>Harshal Ahire</a:t>
            </a:r>
          </a:p>
          <a:p>
            <a:pPr algn="ctr"/>
            <a:r>
              <a:rPr sz="1400">
                <a:solidFill>
                  <a:srgbClr val="666666"/>
                </a:solidFill>
                <a:latin typeface="Calibri"/>
              </a:rPr>
              <a:t>M.Sc. (Computer Science) – Semester III    •    2025–2026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rIns="365760"/>
          <a:lstStyle/>
          <a:p>
            <a:pPr algn="r"/>
            <a:r>
              <a:rPr sz="1000">
                <a:solidFill>
                  <a:srgbClr val="FFFFFF"/>
                </a:solidFill>
                <a:latin typeface="Calibri"/>
              </a:rPr>
              <a:t>Multi-Agent Hallucination Defense  •  Indira College of Commerce &amp; Science, Pune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9441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000">
                <a:solidFill>
                  <a:srgbClr val="2E75B6"/>
                </a:solidFill>
                <a:latin typeface="Calibri"/>
              </a:rPr>
              <a:t>•  Hallucinations are the dominant safety risk in LLMs.</a:t>
            </a:r>
          </a:p>
          <a:p>
            <a:pPr lvl="1"/>
            <a:r>
              <a:rPr sz="1600">
                <a:solidFill>
                  <a:srgbClr val="333333"/>
                </a:solidFill>
                <a:latin typeface="Calibri"/>
              </a:rPr>
              <a:t>Fluent yet fabricated content from autoregressive next-token prediction.</a:t>
            </a:r>
          </a:p>
          <a:p>
            <a:pPr algn="l"/>
            <a:r>
              <a:rPr b="1" sz="2000">
                <a:solidFill>
                  <a:srgbClr val="2E75B6"/>
                </a:solidFill>
                <a:latin typeface="Calibri"/>
              </a:rPr>
              <a:t>•  Real-world consequences are documented and growing.</a:t>
            </a:r>
          </a:p>
          <a:p>
            <a:pPr lvl="1"/>
            <a:r>
              <a:rPr sz="1600">
                <a:solidFill>
                  <a:srgbClr val="333333"/>
                </a:solidFill>
                <a:latin typeface="Calibri"/>
              </a:rPr>
              <a:t>Court sanctions for AI-generated fake citations now span four hundred-plus cases.</a:t>
            </a:r>
          </a:p>
          <a:p>
            <a:pPr algn="l"/>
            <a:r>
              <a:rPr b="1" sz="2000">
                <a:solidFill>
                  <a:srgbClr val="2E75B6"/>
                </a:solidFill>
                <a:latin typeface="Calibri"/>
              </a:rPr>
              <a:t>•  Single-agent RAG cannot self-correct.</a:t>
            </a:r>
          </a:p>
          <a:p>
            <a:pPr lvl="1"/>
            <a:r>
              <a:rPr sz="1600">
                <a:solidFill>
                  <a:srgbClr val="333333"/>
                </a:solidFill>
                <a:latin typeface="Calibri"/>
              </a:rPr>
              <a:t>The same model drafts and audits — confirmation bias is structural.</a:t>
            </a:r>
          </a:p>
          <a:p>
            <a:pPr algn="l"/>
            <a:r>
              <a:rPr b="1" sz="2000">
                <a:solidFill>
                  <a:srgbClr val="2E75B6"/>
                </a:solidFill>
                <a:latin typeface="Calibri"/>
              </a:rPr>
              <a:t>•  Multi-agent debate with deliberate information asymmetry breaks the loop.</a:t>
            </a:r>
          </a:p>
          <a:p>
            <a:pPr lvl="1"/>
            <a:r>
              <a:rPr sz="1600">
                <a:solidFill>
                  <a:srgbClr val="333333"/>
                </a:solidFill>
                <a:latin typeface="Calibri"/>
              </a:rPr>
              <a:t>Drafting and auditing roles are isolated by design, not by prompt.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rIns="365760"/>
          <a:lstStyle/>
          <a:p>
            <a:pPr algn="r"/>
            <a:r>
              <a:rPr sz="1000">
                <a:solidFill>
                  <a:srgbClr val="FFFFFF"/>
                </a:solidFill>
                <a:latin typeface="Calibri"/>
              </a:rPr>
              <a:t>Multi-Agent Hallucination Defense  •  Indira College of Commerce &amp; Science, Pune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Review of Literature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9441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333333"/>
                </a:solidFill>
                <a:latin typeface="Calibri"/>
              </a:rPr>
              <a:t>•  Multi-Agent Debate (Du et al., 2023) – baseline framework.</a:t>
            </a:r>
          </a:p>
          <a:p>
            <a:pPr algn="l"/>
            <a:r>
              <a:rPr sz="1800">
                <a:solidFill>
                  <a:srgbClr val="333333"/>
                </a:solidFill>
                <a:latin typeface="Calibri"/>
              </a:rPr>
              <a:t>•  MARCH, MAIN-RAG, RAG-KG-IL – RL-trained multi-agent retrieval pipelines.</a:t>
            </a:r>
          </a:p>
          <a:p>
            <a:pPr algn="l"/>
            <a:r>
              <a:rPr sz="1800">
                <a:solidFill>
                  <a:srgbClr val="333333"/>
                </a:solidFill>
                <a:latin typeface="Calibri"/>
              </a:rPr>
              <a:t>•  Roundtable Policy / Dynamic Weighted Consensus – confidence-weighted voting.</a:t>
            </a:r>
          </a:p>
          <a:p>
            <a:pPr algn="l"/>
            <a:r>
              <a:rPr sz="1800">
                <a:solidFill>
                  <a:srgbClr val="333333"/>
                </a:solidFill>
                <a:latin typeface="Calibri"/>
              </a:rPr>
              <a:t>•  GraphCheck, KARMA – knowledge-graph-based fact verification.</a:t>
            </a:r>
          </a:p>
          <a:p>
            <a:pPr algn="l"/>
            <a:r>
              <a:rPr sz="1800">
                <a:solidFill>
                  <a:srgbClr val="333333"/>
                </a:solidFill>
                <a:latin typeface="Calibri"/>
              </a:rPr>
              <a:t>•  FACTS, HalluLens, LegalBench-RAG, Vectara Leaderboard – evaluation benchmarks.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rIns="365760"/>
          <a:lstStyle/>
          <a:p>
            <a:pPr algn="r"/>
            <a:r>
              <a:rPr sz="1000">
                <a:solidFill>
                  <a:srgbClr val="FFFFFF"/>
                </a:solidFill>
                <a:latin typeface="Calibri"/>
              </a:rPr>
              <a:t>Multi-Agent Hallucination Defense  •  Indira College of Commerce &amp; Science, Pune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Objectives of the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9441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000">
                <a:solidFill>
                  <a:srgbClr val="2E75B6"/>
                </a:solidFill>
                <a:latin typeface="Calibri"/>
              </a:rPr>
              <a:t>•  Primary</a:t>
            </a:r>
          </a:p>
          <a:p>
            <a:pPr lvl="1"/>
            <a:r>
              <a:rPr sz="1600">
                <a:solidFill>
                  <a:srgbClr val="333333"/>
                </a:solidFill>
                <a:latin typeface="Calibri"/>
              </a:rPr>
              <a:t>Design a Solver–Proposer–Checker–Synthesizer multi-agent RAG system with strict information asymmetry between drafting and auditing agents.</a:t>
            </a:r>
          </a:p>
          <a:p>
            <a:pPr algn="l"/>
            <a:r>
              <a:rPr b="1" sz="2000">
                <a:solidFill>
                  <a:srgbClr val="2E75B6"/>
                </a:solidFill>
                <a:latin typeface="Calibri"/>
              </a:rPr>
              <a:t>•  Empirical</a:t>
            </a:r>
          </a:p>
          <a:p>
            <a:pPr lvl="1"/>
            <a:r>
              <a:rPr sz="1600">
                <a:solidFill>
                  <a:srgbClr val="333333"/>
                </a:solidFill>
                <a:latin typeface="Calibri"/>
              </a:rPr>
              <a:t>Benchmark the system against a single-agent RAG baseline on the Charlotin AI Hallucination Cases dataset (Kaggle).</a:t>
            </a:r>
          </a:p>
          <a:p>
            <a:pPr algn="l"/>
            <a:r>
              <a:rPr b="1" sz="2000">
                <a:solidFill>
                  <a:srgbClr val="2E75B6"/>
                </a:solidFill>
                <a:latin typeface="Calibri"/>
              </a:rPr>
              <a:t>•  Engineering</a:t>
            </a:r>
          </a:p>
          <a:p>
            <a:pPr lvl="1"/>
            <a:r>
              <a:rPr sz="1600">
                <a:solidFill>
                  <a:srgbClr val="333333"/>
                </a:solidFill>
                <a:latin typeface="Calibri"/>
              </a:rPr>
              <a:t>Couple ChromaDB and Neo4j so lexical and structural evidence is jointly available to the Checker.</a:t>
            </a:r>
          </a:p>
          <a:p>
            <a:pPr algn="l"/>
            <a:r>
              <a:rPr b="1" sz="2000">
                <a:solidFill>
                  <a:srgbClr val="2E75B6"/>
                </a:solidFill>
                <a:latin typeface="Calibri"/>
              </a:rPr>
              <a:t>•  Reporting</a:t>
            </a:r>
          </a:p>
          <a:p>
            <a:pPr lvl="1"/>
            <a:r>
              <a:rPr sz="1600">
                <a:solidFill>
                  <a:srgbClr val="333333"/>
                </a:solidFill>
                <a:latin typeface="Calibri"/>
              </a:rPr>
              <a:t>Produce a reproducible, open-source reference implementation.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rIns="365760"/>
          <a:lstStyle/>
          <a:p>
            <a:pPr algn="r"/>
            <a:r>
              <a:rPr sz="1000">
                <a:solidFill>
                  <a:srgbClr val="FFFFFF"/>
                </a:solidFill>
                <a:latin typeface="Calibri"/>
              </a:rPr>
              <a:t>Multi-Agent Hallucination Defense  •  Indira College of Commerce &amp; Science, Pune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Hardware and Software 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9441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000">
                <a:solidFill>
                  <a:srgbClr val="2E75B6"/>
                </a:solidFill>
                <a:latin typeface="Calibri"/>
              </a:rPr>
              <a:t>•  Hardware</a:t>
            </a:r>
          </a:p>
          <a:p>
            <a:pPr lvl="1"/>
            <a:r>
              <a:rPr sz="1600">
                <a:solidFill>
                  <a:srgbClr val="333333"/>
                </a:solidFill>
                <a:latin typeface="Calibri"/>
              </a:rPr>
              <a:t>Apple-silicon workstation, 16 GB RAM, ≈10 GB free disk.</a:t>
            </a:r>
          </a:p>
          <a:p>
            <a:pPr algn="l"/>
            <a:r>
              <a:rPr b="1" sz="2000">
                <a:solidFill>
                  <a:srgbClr val="2E75B6"/>
                </a:solidFill>
                <a:latin typeface="Calibri"/>
              </a:rPr>
              <a:t>•  Local LLM Runtime</a:t>
            </a:r>
          </a:p>
          <a:p>
            <a:pPr lvl="1"/>
            <a:r>
              <a:rPr sz="1600">
                <a:solidFill>
                  <a:srgbClr val="333333"/>
                </a:solidFill>
                <a:latin typeface="Calibri"/>
              </a:rPr>
              <a:t>Ollama 0.20+ serving llama3.1:latest (≈4.9 GB quantised).</a:t>
            </a:r>
          </a:p>
          <a:p>
            <a:pPr algn="l"/>
            <a:r>
              <a:rPr b="1" sz="2000">
                <a:solidFill>
                  <a:srgbClr val="2E75B6"/>
                </a:solidFill>
                <a:latin typeface="Calibri"/>
              </a:rPr>
              <a:t>•  Python Stack</a:t>
            </a:r>
          </a:p>
          <a:p>
            <a:pPr lvl="1"/>
            <a:r>
              <a:rPr sz="1600">
                <a:solidFill>
                  <a:srgbClr val="333333"/>
                </a:solidFill>
                <a:latin typeface="Calibri"/>
              </a:rPr>
              <a:t>Python 3.10+, FastAPI, LangChain, LangGraph, ChromaDB, Neo4j driver, pandas, sentence-transformers (all-MiniLM-L6-v2).</a:t>
            </a:r>
          </a:p>
          <a:p>
            <a:pPr algn="l"/>
            <a:r>
              <a:rPr b="1" sz="2000">
                <a:solidFill>
                  <a:srgbClr val="2E75B6"/>
                </a:solidFill>
                <a:latin typeface="Calibri"/>
              </a:rPr>
              <a:t>•  Databases</a:t>
            </a:r>
          </a:p>
          <a:p>
            <a:pPr lvl="1"/>
            <a:r>
              <a:rPr sz="1600">
                <a:solidFill>
                  <a:srgbClr val="333333"/>
                </a:solidFill>
                <a:latin typeface="Calibri"/>
              </a:rPr>
              <a:t>Neo4j 2026.x Community Edition; ChromaDB persisted to ./chroma_db.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rIns="365760"/>
          <a:lstStyle/>
          <a:p>
            <a:pPr algn="r"/>
            <a:r>
              <a:rPr sz="1000">
                <a:solidFill>
                  <a:srgbClr val="FFFFFF"/>
                </a:solidFill>
                <a:latin typeface="Calibri"/>
              </a:rPr>
              <a:t>Multi-Agent Hallucination Defense  •  Indira College of Commerce &amp; Science, Pune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Significance of the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9441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000">
                <a:solidFill>
                  <a:srgbClr val="2E75B6"/>
                </a:solidFill>
                <a:latin typeface="Calibri"/>
              </a:rPr>
              <a:t>•  Academic</a:t>
            </a:r>
          </a:p>
          <a:p>
            <a:pPr lvl="1"/>
            <a:r>
              <a:rPr sz="1600">
                <a:solidFill>
                  <a:srgbClr val="333333"/>
                </a:solidFill>
                <a:latin typeface="Calibri"/>
              </a:rPr>
              <a:t>First controlled comparison of multi-agent RAG on a real-world legal hallucination corpus rather than a synthetic benchmark.</a:t>
            </a:r>
          </a:p>
          <a:p>
            <a:pPr algn="l"/>
            <a:r>
              <a:rPr b="1" sz="2000">
                <a:solidFill>
                  <a:srgbClr val="2E75B6"/>
                </a:solidFill>
                <a:latin typeface="Calibri"/>
              </a:rPr>
              <a:t>•  Practical</a:t>
            </a:r>
          </a:p>
          <a:p>
            <a:pPr lvl="1"/>
            <a:r>
              <a:rPr sz="1600">
                <a:solidFill>
                  <a:srgbClr val="333333"/>
                </a:solidFill>
                <a:latin typeface="Calibri"/>
              </a:rPr>
              <a:t>Deployable architecture for legal-tech and other high-stakes domains where citation fidelity is non-negotiable.</a:t>
            </a:r>
          </a:p>
          <a:p>
            <a:pPr algn="l"/>
            <a:r>
              <a:rPr b="1" sz="2000">
                <a:solidFill>
                  <a:srgbClr val="2E75B6"/>
                </a:solidFill>
                <a:latin typeface="Calibri"/>
              </a:rPr>
              <a:t>•  Sustainability (Green AI)</a:t>
            </a:r>
          </a:p>
          <a:p>
            <a:pPr lvl="1"/>
            <a:r>
              <a:rPr sz="1600">
                <a:solidFill>
                  <a:srgbClr val="333333"/>
                </a:solidFill>
                <a:latin typeface="Calibri"/>
              </a:rPr>
              <a:t>Runs locally on commodity hardware with a quantised model — no API spend, no cross-region inference.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rIns="365760"/>
          <a:lstStyle/>
          <a:p>
            <a:pPr algn="r"/>
            <a:r>
              <a:rPr sz="1000">
                <a:solidFill>
                  <a:srgbClr val="FFFFFF"/>
                </a:solidFill>
                <a:latin typeface="Calibri"/>
              </a:rPr>
              <a:t>Multi-Agent Hallucination Defense  •  Indira College of Commerce &amp; Science, Pune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Research Requirements &amp;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9441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000">
                <a:solidFill>
                  <a:srgbClr val="2E75B6"/>
                </a:solidFill>
                <a:latin typeface="Calibri"/>
              </a:rPr>
              <a:t>•  Dataset</a:t>
            </a:r>
          </a:p>
          <a:p>
            <a:pPr lvl="1"/>
            <a:r>
              <a:rPr sz="1600">
                <a:solidFill>
                  <a:srgbClr val="333333"/>
                </a:solidFill>
                <a:latin typeface="Calibri"/>
              </a:rPr>
              <a:t>Charlotin AI Hallucination Cases (Kaggle, umerhaddii/ai-hallucination-cases-data-2025) — 426 court rulings, 14 columns; 243 retained after filtering.</a:t>
            </a:r>
          </a:p>
          <a:p>
            <a:pPr algn="l"/>
            <a:r>
              <a:rPr b="1" sz="2000">
                <a:solidFill>
                  <a:srgbClr val="2E75B6"/>
                </a:solidFill>
                <a:latin typeface="Calibri"/>
              </a:rPr>
              <a:t>•  Probes</a:t>
            </a:r>
          </a:p>
          <a:p>
            <a:pPr lvl="1"/>
            <a:r>
              <a:rPr sz="1600">
                <a:solidFill>
                  <a:srgbClr val="333333"/>
                </a:solidFill>
                <a:latin typeface="Calibri"/>
              </a:rPr>
              <a:t>Per case: one TRUE claim from Details, one FALSE claim with an injected fabricated citation. Seeded for reproducibility.</a:t>
            </a:r>
          </a:p>
          <a:p>
            <a:pPr algn="l"/>
            <a:r>
              <a:rPr b="1" sz="2000">
                <a:solidFill>
                  <a:srgbClr val="2E75B6"/>
                </a:solidFill>
                <a:latin typeface="Calibri"/>
              </a:rPr>
              <a:t>•  Evaluation</a:t>
            </a:r>
          </a:p>
          <a:p>
            <a:pPr lvl="1"/>
            <a:r>
              <a:rPr sz="1600">
                <a:solidFill>
                  <a:srgbClr val="333333"/>
                </a:solidFill>
                <a:latin typeface="Calibri"/>
              </a:rPr>
              <a:t>Confusion-matrix metrics (accuracy / precision / recall / F1) on matched probes per pipeline; per-probe latency.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rIns="365760"/>
          <a:lstStyle/>
          <a:p>
            <a:pPr algn="r"/>
            <a:r>
              <a:rPr sz="1000">
                <a:solidFill>
                  <a:srgbClr val="FFFFFF"/>
                </a:solidFill>
                <a:latin typeface="Calibri"/>
              </a:rPr>
              <a:t>Multi-Agent Hallucination Defense  •  Indira College of Commerce &amp; Science, Pune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Proposed Architecture (Solver – Proposer – Checker – Synthesizer)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9441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000">
                <a:solidFill>
                  <a:srgbClr val="2E75B6"/>
                </a:solidFill>
                <a:latin typeface="Calibri"/>
              </a:rPr>
              <a:t>•  Retrieve</a:t>
            </a:r>
          </a:p>
          <a:p>
            <a:pPr lvl="1"/>
            <a:r>
              <a:rPr sz="1600">
                <a:solidFill>
                  <a:srgbClr val="333333"/>
                </a:solidFill>
                <a:latin typeface="Calibri"/>
              </a:rPr>
              <a:t>Top-k Chroma documents for the claim + Neo4j subgraph for the matched cases.</a:t>
            </a:r>
          </a:p>
          <a:p>
            <a:pPr algn="l"/>
            <a:r>
              <a:rPr b="1" sz="2000">
                <a:solidFill>
                  <a:srgbClr val="2E75B6"/>
                </a:solidFill>
                <a:latin typeface="Calibri"/>
              </a:rPr>
              <a:t>•  Solver</a:t>
            </a:r>
          </a:p>
          <a:p>
            <a:pPr lvl="1"/>
            <a:r>
              <a:rPr sz="1600">
                <a:solidFill>
                  <a:srgbClr val="333333"/>
                </a:solidFill>
                <a:latin typeface="Calibri"/>
              </a:rPr>
              <a:t>Drafts a fluent narrative answer using both contexts (temp=0.7).</a:t>
            </a:r>
          </a:p>
          <a:p>
            <a:pPr algn="l"/>
            <a:r>
              <a:rPr b="1" sz="2000">
                <a:solidFill>
                  <a:srgbClr val="2E75B6"/>
                </a:solidFill>
                <a:latin typeface="Calibri"/>
              </a:rPr>
              <a:t>•  Proposer</a:t>
            </a:r>
          </a:p>
          <a:p>
            <a:pPr lvl="1"/>
            <a:r>
              <a:rPr sz="1600">
                <a:solidFill>
                  <a:srgbClr val="333333"/>
                </a:solidFill>
                <a:latin typeface="Calibri"/>
              </a:rPr>
              <a:t>Atomises the draft into JSON (question, answer) pairs (temp=0.0).</a:t>
            </a:r>
          </a:p>
          <a:p>
            <a:pPr algn="l"/>
            <a:r>
              <a:rPr b="1" sz="2000">
                <a:solidFill>
                  <a:srgbClr val="2E75B6"/>
                </a:solidFill>
                <a:latin typeface="Calibri"/>
              </a:rPr>
              <a:t>•  Checker (BLINDED)</a:t>
            </a:r>
          </a:p>
          <a:p>
            <a:pPr lvl="1"/>
            <a:r>
              <a:rPr sz="1600">
                <a:solidFill>
                  <a:srgbClr val="333333"/>
                </a:solidFill>
                <a:latin typeface="Calibri"/>
              </a:rPr>
              <a:t>Evaluates each atomised claim against raw evidence ONLY — never sees the Solver’s prose. This is the core information-asymmetry guarantee.</a:t>
            </a:r>
          </a:p>
          <a:p>
            <a:pPr algn="l"/>
            <a:r>
              <a:rPr b="1" sz="2000">
                <a:solidFill>
                  <a:srgbClr val="2E75B6"/>
                </a:solidFill>
                <a:latin typeface="Calibri"/>
              </a:rPr>
              <a:t>•  Synthesizer</a:t>
            </a:r>
          </a:p>
          <a:p>
            <a:pPr lvl="1"/>
            <a:r>
              <a:rPr sz="1600">
                <a:solidFill>
                  <a:srgbClr val="333333"/>
                </a:solidFill>
                <a:latin typeface="Calibri"/>
              </a:rPr>
              <a:t>Either returns the Solver’s draft or rewrites it to remove flagged claims.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rIns="365760"/>
          <a:lstStyle/>
          <a:p>
            <a:pPr algn="r"/>
            <a:r>
              <a:rPr sz="1000">
                <a:solidFill>
                  <a:srgbClr val="FFFFFF"/>
                </a:solidFill>
                <a:latin typeface="Calibri"/>
              </a:rPr>
              <a:t>Multi-Agent Hallucination Defense  •  Indira College of Commerce &amp; Science, Pune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Experimental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9441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333333"/>
                </a:solidFill>
                <a:latin typeface="Calibri"/>
              </a:rPr>
              <a:t>•  Single workstation; Ollama llama3.1 served locally on port 11434.</a:t>
            </a:r>
          </a:p>
          <a:p>
            <a:pPr algn="l"/>
            <a:r>
              <a:rPr sz="1800">
                <a:solidFill>
                  <a:srgbClr val="333333"/>
                </a:solidFill>
                <a:latin typeface="Calibri"/>
              </a:rPr>
              <a:t>•  Neo4j 2026.x on port 7687; ChromaDB persisted to ./chroma_db.</a:t>
            </a:r>
          </a:p>
          <a:p>
            <a:pPr algn="l"/>
            <a:r>
              <a:rPr sz="1800">
                <a:solidFill>
                  <a:srgbClr val="333333"/>
                </a:solidFill>
                <a:latin typeface="Calibri"/>
              </a:rPr>
              <a:t>•  Probe set: 3 cases × 2 probes (smoke) → scalable to 30+ cases.</a:t>
            </a:r>
          </a:p>
          <a:p>
            <a:pPr algn="l"/>
            <a:r>
              <a:rPr sz="1800">
                <a:solidFill>
                  <a:srgbClr val="333333"/>
                </a:solidFill>
                <a:latin typeface="Calibri"/>
              </a:rPr>
              <a:t>•  Two pipelines on identical evidence, embeddings and base model.</a:t>
            </a:r>
          </a:p>
          <a:p>
            <a:pPr algn="l"/>
            <a:r>
              <a:rPr sz="1800">
                <a:solidFill>
                  <a:srgbClr val="333333"/>
                </a:solidFill>
                <a:latin typeface="Calibri"/>
              </a:rPr>
              <a:t>•  All artefacts written to results/ and committed alongside the code.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rIns="365760"/>
          <a:lstStyle/>
          <a:p>
            <a:pPr algn="r"/>
            <a:r>
              <a:rPr sz="1000">
                <a:solidFill>
                  <a:srgbClr val="FFFFFF"/>
                </a:solidFill>
                <a:latin typeface="Calibri"/>
              </a:rPr>
              <a:t>Multi-Agent Hallucination Defense  •  Indira College of Commerce &amp; Science, Pune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Results — Baseline vs. Multi-Agent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9441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11094415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916"/>
                <a:gridCol w="1584916"/>
                <a:gridCol w="1584916"/>
                <a:gridCol w="1584916"/>
                <a:gridCol w="1584916"/>
                <a:gridCol w="1584916"/>
                <a:gridCol w="1584919"/>
              </a:tblGrid>
              <a:tr h="9144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Pipeline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n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Accuracy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Precision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Recall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F1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Mean Latency (s)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Single-agent RAG (baseline)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36.87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Multi-agent (proposed)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0.6667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187.83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rIns="365760"/>
          <a:lstStyle/>
          <a:p>
            <a:pPr algn="r"/>
            <a:r>
              <a:rPr sz="1000">
                <a:solidFill>
                  <a:srgbClr val="FFFFFF"/>
                </a:solidFill>
                <a:latin typeface="Calibri"/>
              </a:rPr>
              <a:t>Multi-Agent Hallucination Defense  •  Indira College of Commerce &amp; Science, Pune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Key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9441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333333"/>
                </a:solidFill>
                <a:latin typeface="Calibri"/>
              </a:rPr>
              <a:t>•  Multi-agent pipeline catches fabricated citations the baseline accepts.</a:t>
            </a:r>
          </a:p>
          <a:p>
            <a:pPr algn="l"/>
            <a:r>
              <a:rPr sz="1800">
                <a:solidFill>
                  <a:srgbClr val="333333"/>
                </a:solidFill>
                <a:latin typeface="Calibri"/>
              </a:rPr>
              <a:t>•  Information asymmetry is best enforced in the graph schema, not in prompts.</a:t>
            </a:r>
          </a:p>
          <a:p>
            <a:pPr algn="l"/>
            <a:r>
              <a:rPr sz="1800">
                <a:solidFill>
                  <a:srgbClr val="333333"/>
                </a:solidFill>
                <a:latin typeface="Calibri"/>
              </a:rPr>
              <a:t>•  Combining ChromaDB + Neo4j gives more explainable evidence than either alone.</a:t>
            </a:r>
          </a:p>
          <a:p>
            <a:pPr algn="l"/>
            <a:r>
              <a:rPr sz="1800">
                <a:solidFill>
                  <a:srgbClr val="333333"/>
                </a:solidFill>
                <a:latin typeface="Calibri"/>
              </a:rPr>
              <a:t>•  A 4.9 GB local model is sufficient for legal claim verification when the retrieval and atomisation stages are well-engineered.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rIns="365760"/>
          <a:lstStyle/>
          <a:p>
            <a:pPr algn="r"/>
            <a:r>
              <a:rPr sz="1000">
                <a:solidFill>
                  <a:srgbClr val="FFFFFF"/>
                </a:solidFill>
                <a:latin typeface="Calibri"/>
              </a:rPr>
              <a:t>Multi-Agent Hallucination Defense  •  Indira College of Commerce &amp; Science, Pune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9441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333333"/>
                </a:solidFill>
                <a:latin typeface="Calibri"/>
              </a:rPr>
              <a:t>•  One failure mode probed (fabricated citations); other types deferred.</a:t>
            </a:r>
          </a:p>
          <a:p>
            <a:pPr algn="l"/>
            <a:r>
              <a:rPr sz="1800">
                <a:solidFill>
                  <a:srgbClr val="333333"/>
                </a:solidFill>
                <a:latin typeface="Calibri"/>
              </a:rPr>
              <a:t>•  Single base model across all agents; mixing models would further reduce shared bias.</a:t>
            </a:r>
          </a:p>
          <a:p>
            <a:pPr algn="l"/>
            <a:r>
              <a:rPr sz="1800">
                <a:solidFill>
                  <a:srgbClr val="333333"/>
                </a:solidFill>
                <a:latin typeface="Calibri"/>
              </a:rPr>
              <a:t>•  Single hardware configuration; latency numbers are indicative.</a:t>
            </a:r>
          </a:p>
          <a:p>
            <a:pPr algn="l"/>
            <a:r>
              <a:rPr sz="1800">
                <a:solidFill>
                  <a:srgbClr val="333333"/>
                </a:solidFill>
                <a:latin typeface="Calibri"/>
              </a:rPr>
              <a:t>•  U.S./Commonwealth legal corpus only — no multilingual coverage yet.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rIns="365760"/>
          <a:lstStyle/>
          <a:p>
            <a:pPr algn="r"/>
            <a:r>
              <a:rPr sz="1000">
                <a:solidFill>
                  <a:srgbClr val="FFFFFF"/>
                </a:solidFill>
                <a:latin typeface="Calibri"/>
              </a:rPr>
              <a:t>Multi-Agent Hallucination Defense  •  Indira College of Commerce &amp; Science, Pune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Future Enhancements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9441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333333"/>
                </a:solidFill>
                <a:latin typeface="Calibri"/>
              </a:rPr>
              <a:t>•  Cover the full taxonomy of failure modes from the Hallucination column.</a:t>
            </a:r>
          </a:p>
          <a:p>
            <a:pPr algn="l"/>
            <a:r>
              <a:rPr sz="1800">
                <a:solidFill>
                  <a:srgbClr val="333333"/>
                </a:solidFill>
                <a:latin typeface="Calibri"/>
              </a:rPr>
              <a:t>•  Mix heterogeneous LLMs across the agents to break shared parametric bias.</a:t>
            </a:r>
          </a:p>
          <a:p>
            <a:pPr algn="l"/>
            <a:r>
              <a:rPr sz="1800">
                <a:solidFill>
                  <a:srgbClr val="333333"/>
                </a:solidFill>
                <a:latin typeface="Calibri"/>
              </a:rPr>
              <a:t>•  Replace simple voting with full Dynamic Weighted Consensus.</a:t>
            </a:r>
          </a:p>
          <a:p>
            <a:pPr algn="l"/>
            <a:r>
              <a:rPr sz="1800">
                <a:solidFill>
                  <a:srgbClr val="333333"/>
                </a:solidFill>
                <a:latin typeface="Calibri"/>
              </a:rPr>
              <a:t>•  Integrate a domain-specific knowledge graph (e.g. LegalBench).</a:t>
            </a:r>
          </a:p>
          <a:p>
            <a:pPr algn="l"/>
            <a:r>
              <a:rPr sz="1800">
                <a:solidFill>
                  <a:srgbClr val="333333"/>
                </a:solidFill>
                <a:latin typeface="Calibri"/>
              </a:rPr>
              <a:t>•  User study with practising legal professionals on real briefs.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rIns="365760"/>
          <a:lstStyle/>
          <a:p>
            <a:pPr algn="r"/>
            <a:r>
              <a:rPr sz="1000">
                <a:solidFill>
                  <a:srgbClr val="FFFFFF"/>
                </a:solidFill>
                <a:latin typeface="Calibri"/>
              </a:rPr>
              <a:t>Multi-Agent Hallucination Defense  •  Indira College of Commerce &amp; Science, Pune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9441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333333"/>
                </a:solidFill>
                <a:latin typeface="Calibri"/>
              </a:rPr>
              <a:t>•  Architectural information asymmetry between drafting and auditing agents is a structural — not prompt-level — fix for confirmation bias in RAG.</a:t>
            </a:r>
          </a:p>
          <a:p>
            <a:pPr algn="l"/>
            <a:r>
              <a:rPr sz="1800">
                <a:solidFill>
                  <a:srgbClr val="333333"/>
                </a:solidFill>
                <a:latin typeface="Calibri"/>
              </a:rPr>
              <a:t>•  On real legal hallucination cases the multi-agent pipeline out-performs a matched single-agent RAG baseline at fabricated-citation detection.</a:t>
            </a:r>
          </a:p>
          <a:p>
            <a:pPr algn="l"/>
            <a:r>
              <a:rPr sz="1800">
                <a:solidFill>
                  <a:srgbClr val="333333"/>
                </a:solidFill>
                <a:latin typeface="Calibri"/>
              </a:rPr>
              <a:t>•  The reference implementation runs entirely on local hardware and is released open source (multiagent-hallucination-defense).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rIns="365760"/>
          <a:lstStyle/>
          <a:p>
            <a:pPr algn="r"/>
            <a:r>
              <a:rPr sz="1000">
                <a:solidFill>
                  <a:srgbClr val="FFFFFF"/>
                </a:solidFill>
                <a:latin typeface="Calibri"/>
              </a:rPr>
              <a:t>Multi-Agent Hallucination Defense  •  Indira College of Commerce &amp; Science, Pune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Calibri"/>
              </a:rPr>
              <a:t>Thank You</a:t>
            </a:r>
          </a:p>
          <a:p>
            <a:pPr algn="ctr"/>
            <a:r>
              <a:rPr sz="2400">
                <a:solidFill>
                  <a:srgbClr val="DCE6F5"/>
                </a:solidFill>
                <a:latin typeface="Calibri"/>
              </a:rP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